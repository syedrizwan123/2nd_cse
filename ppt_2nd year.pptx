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4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5143500" cy="9144000"/>
  <p:embeddedFontLst>
    <p:embeddedFont>
      <p:font typeface="Platypi Medium" charset="0"/>
      <p:regular r:id="rId12"/>
    </p:embeddedFont>
    <p:embeddedFont>
      <p:font typeface="Calibri" pitchFamily="34" charset="0"/>
      <p:regular r:id="rId13"/>
      <p:bold r:id="rId14"/>
      <p:italic r:id="rId15"/>
      <p:boldItalic r:id="rId16"/>
    </p:embeddedFont>
    <p:embeddedFont>
      <p:font typeface="Trebuchet MS" pitchFamily="34" charset="0"/>
      <p:regular r:id="rId17"/>
      <p:bold r:id="rId18"/>
      <p:italic r:id="rId19"/>
      <p:boldItalic r:id="rId20"/>
    </p:embeddedFont>
    <p:embeddedFont>
      <p:font typeface="Georgia" pitchFamily="18" charset="0"/>
      <p:regular r:id="rId21"/>
      <p:bold r:id="rId22"/>
      <p:italic r:id="rId23"/>
      <p:boldItalic r:id="rId24"/>
    </p:embeddedFont>
    <p:embeddedFont>
      <p:font typeface="Arial Narrow" pitchFamily="34" charset="0"/>
      <p:regular r:id="rId25"/>
      <p:bold r:id="rId26"/>
      <p:italic r:id="rId27"/>
      <p:boldItalic r:id="rId28"/>
    </p:embeddedFont>
    <p:embeddedFont>
      <p:font typeface="Source Serif 4" charset="0"/>
      <p:regular r:id="rId29"/>
    </p:embeddedFont>
    <p:embeddedFont>
      <p:font typeface="Source Serif 4 Bold" charset="0"/>
      <p:bold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7" d="100"/>
          <a:sy n="107" d="100"/>
        </p:scale>
        <p:origin x="-306" y="22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2476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2900190"/>
            <a:ext cx="9144000" cy="224331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290019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1989233"/>
            <a:ext cx="9144000" cy="1714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200150"/>
            <a:ext cx="9144000" cy="382905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3789409"/>
            <a:ext cx="5637010" cy="66158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August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2" y="2349218"/>
            <a:ext cx="7175351" cy="1344875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August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548640"/>
            <a:ext cx="6400800" cy="26060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2900190"/>
            <a:ext cx="9144000" cy="224331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290019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1989233"/>
            <a:ext cx="9144000" cy="1714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200150"/>
            <a:ext cx="9144000" cy="382905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1629486"/>
            <a:ext cx="5966666" cy="1817510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3455633"/>
            <a:ext cx="5970494" cy="626595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August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August 11,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548639"/>
            <a:ext cx="3346704" cy="26060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548640"/>
            <a:ext cx="3346704" cy="26060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548640"/>
            <a:ext cx="3346704" cy="47982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050245"/>
            <a:ext cx="3346704" cy="20574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548640"/>
            <a:ext cx="3346704" cy="47982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049274"/>
            <a:ext cx="3346704" cy="20574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August 11,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August 11,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August 11,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6" y="1657350"/>
            <a:ext cx="3636085" cy="943870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6" y="548640"/>
            <a:ext cx="4017085" cy="3671048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2623351"/>
            <a:ext cx="3388660" cy="160463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August 11,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900190"/>
            <a:ext cx="9144000" cy="224331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290019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1989233"/>
            <a:ext cx="9144000" cy="1714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200150"/>
            <a:ext cx="9144000" cy="382905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857250"/>
            <a:ext cx="4114800" cy="2345855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757865"/>
            <a:ext cx="3694114" cy="1622265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August 11,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3348316"/>
            <a:ext cx="6383538" cy="85725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548639"/>
            <a:ext cx="6400800" cy="260604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August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282388"/>
            <a:ext cx="2057400" cy="3928754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4" y="548640"/>
            <a:ext cx="4829287" cy="367104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August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29050"/>
            <a:ext cx="9144000" cy="131445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2905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826228"/>
            <a:ext cx="9144000" cy="1714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200150"/>
            <a:ext cx="9144000" cy="382905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90" y="3279126"/>
            <a:ext cx="6512511" cy="85725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549195"/>
            <a:ext cx="6400800" cy="2606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4629150"/>
            <a:ext cx="2514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2B1B13E-D5AF-485E-81A1-82A140076526}" type="datetime4">
              <a:rPr lang="en-US" smtClean="0"/>
              <a:pPr/>
              <a:t>August 11,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4629150"/>
            <a:ext cx="33528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4629150"/>
            <a:ext cx="18288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521" y="1967946"/>
            <a:ext cx="4290133" cy="20625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 2"/>
          <p:cNvSpPr/>
          <p:nvPr/>
        </p:nvSpPr>
        <p:spPr>
          <a:xfrm>
            <a:off x="3009530" y="468257"/>
            <a:ext cx="3320248" cy="5881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Is a Language?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007006" y="2135415"/>
            <a:ext cx="4003829" cy="21688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A </a:t>
            </a:r>
            <a:r>
              <a:rPr lang="en-US" sz="1500" b="1" dirty="0">
                <a:solidFill>
                  <a:srgbClr val="504C49"/>
                </a:solidFill>
                <a:latin typeface="Source Serif 4 Bold" panose="02040603050405020204" pitchFamily="34" charset="0"/>
                <a:ea typeface="Source Serif 4 Bold" panose="02040603050405020204" pitchFamily="34" charset="-122"/>
                <a:cs typeface="Source Serif 4 Bold" panose="02040603050405020204" pitchFamily="34" charset="-120"/>
              </a:rPr>
              <a:t>language</a:t>
            </a: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 is a communication channel between two people — a structured system of words, symbols, or gestures used to exchange information and ideas</a:t>
            </a:r>
            <a:r>
              <a:rPr lang="en-US" sz="1500" dirty="0" smtClean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83359" y="203847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Is a Programming Language?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740394" y="1222984"/>
            <a:ext cx="5174106" cy="10319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A </a:t>
            </a:r>
            <a:r>
              <a:rPr lang="en-US" sz="1400" b="1" dirty="0">
                <a:solidFill>
                  <a:srgbClr val="504C49"/>
                </a:solidFill>
                <a:latin typeface="Source Serif 4 Bold" panose="02040603050405020204" pitchFamily="34" charset="0"/>
                <a:ea typeface="Source Serif 4 Bold" panose="02040603050405020204" pitchFamily="34" charset="-122"/>
                <a:cs typeface="Source Serif 4 Bold" panose="02040603050405020204" pitchFamily="34" charset="-120"/>
              </a:rPr>
              <a:t>programming language</a:t>
            </a:r>
            <a:r>
              <a:rPr lang="en-US" sz="14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 is a formal language used to communicate instructions to a computer. Programmers write </a:t>
            </a:r>
            <a:r>
              <a:rPr lang="en-US" sz="1400" b="1" dirty="0">
                <a:solidFill>
                  <a:srgbClr val="504C49"/>
                </a:solidFill>
                <a:latin typeface="Source Serif 4 Bold" panose="02040603050405020204" pitchFamily="34" charset="0"/>
                <a:ea typeface="Source Serif 4 Bold" panose="02040603050405020204" pitchFamily="34" charset="-122"/>
                <a:cs typeface="Source Serif 4 Bold" panose="02040603050405020204" pitchFamily="34" charset="-120"/>
              </a:rPr>
              <a:t>code</a:t>
            </a:r>
            <a:r>
              <a:rPr lang="en-US" sz="14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 that the computer can </a:t>
            </a:r>
            <a:r>
              <a:rPr lang="en-US" sz="14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  <a:hlinkClick r:id="rId4" action="ppaction://hlinksldjump"/>
              </a:rPr>
              <a:t>interpret</a:t>
            </a:r>
            <a:r>
              <a:rPr lang="en-US" sz="14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 and execute.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712441" y="2414734"/>
            <a:ext cx="2574057" cy="1486350"/>
          </a:xfrm>
          <a:prstGeom prst="roundRect">
            <a:avLst>
              <a:gd name="adj" fmla="val 167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6" name="Text 3"/>
          <p:cNvSpPr/>
          <p:nvPr/>
        </p:nvSpPr>
        <p:spPr>
          <a:xfrm>
            <a:off x="4137794" y="2489378"/>
            <a:ext cx="2148705" cy="252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Syntax &amp; Rules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827684" y="2752720"/>
            <a:ext cx="2317056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Each language has its own grammar and structure that must be followed precisely.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1732" y="2414734"/>
            <a:ext cx="2529206" cy="1486351"/>
          </a:xfrm>
          <a:prstGeom prst="roundRect">
            <a:avLst>
              <a:gd name="adj" fmla="val 167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9" name="Text 6"/>
          <p:cNvSpPr/>
          <p:nvPr/>
        </p:nvSpPr>
        <p:spPr>
          <a:xfrm>
            <a:off x="6951868" y="2447519"/>
            <a:ext cx="2007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Purpose-Built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63878" y="2734963"/>
            <a:ext cx="2388476" cy="1112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Used to create software, apps, websites — from small scripts to large-scale systems.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925119" y="4207044"/>
            <a:ext cx="4722763" cy="643764"/>
          </a:xfrm>
          <a:prstGeom prst="roundRect">
            <a:avLst>
              <a:gd name="adj" fmla="val 2603"/>
            </a:avLst>
          </a:prstGeom>
          <a:solidFill>
            <a:srgbClr val="F9F7F7"/>
          </a:solidFill>
        </p:spPr>
      </p:sp>
      <p:sp>
        <p:nvSpPr>
          <p:cNvPr id="12" name="Text 9"/>
          <p:cNvSpPr/>
          <p:nvPr/>
        </p:nvSpPr>
        <p:spPr>
          <a:xfrm>
            <a:off x="5239670" y="4207044"/>
            <a:ext cx="1711546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Popular</a:t>
            </a: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Examples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113006" y="4485449"/>
            <a:ext cx="4439245" cy="4117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Python, Java, C++, JavaScript, Ruby, and many more.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9" grpId="0"/>
      <p:bldP spid="10" grpId="0"/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8" y="281473"/>
            <a:ext cx="8151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Computer Language: The Human–Machine Bridge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81421" y="1520546"/>
            <a:ext cx="4075882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A </a:t>
            </a:r>
            <a:r>
              <a:rPr lang="en-US" sz="1400" b="1" dirty="0">
                <a:solidFill>
                  <a:srgbClr val="504C49"/>
                </a:solidFill>
                <a:latin typeface="Source Serif 4 Bold" panose="02040603050405020204" pitchFamily="34" charset="0"/>
                <a:ea typeface="Source Serif 4 Bold" panose="02040603050405020204" pitchFamily="34" charset="-122"/>
                <a:cs typeface="Source Serif 4 Bold" panose="02040603050405020204" pitchFamily="34" charset="-120"/>
              </a:rPr>
              <a:t>computer language</a:t>
            </a:r>
            <a:r>
              <a:rPr lang="en-US" sz="14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 is a communication channel between a </a:t>
            </a:r>
            <a:r>
              <a:rPr lang="en-US" sz="1400" b="1" dirty="0">
                <a:solidFill>
                  <a:srgbClr val="504C49"/>
                </a:solidFill>
                <a:latin typeface="Source Serif 4 Bold" panose="02040603050405020204" pitchFamily="34" charset="0"/>
                <a:ea typeface="Source Serif 4 Bold" panose="02040603050405020204" pitchFamily="34" charset="-122"/>
                <a:cs typeface="Source Serif 4 Bold" panose="02040603050405020204" pitchFamily="34" charset="-120"/>
              </a:rPr>
              <a:t>person</a:t>
            </a:r>
            <a:r>
              <a:rPr lang="en-US" sz="14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 and a </a:t>
            </a:r>
            <a:r>
              <a:rPr lang="en-US" sz="1400" b="1" dirty="0">
                <a:solidFill>
                  <a:srgbClr val="504C49"/>
                </a:solidFill>
                <a:latin typeface="Source Serif 4 Bold" panose="02040603050405020204" pitchFamily="34" charset="0"/>
                <a:ea typeface="Source Serif 4 Bold" panose="02040603050405020204" pitchFamily="34" charset="-122"/>
                <a:cs typeface="Source Serif 4 Bold" panose="02040603050405020204" pitchFamily="34" charset="-120"/>
              </a:rPr>
              <a:t>system or device</a:t>
            </a:r>
            <a:r>
              <a:rPr lang="en-US" sz="14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. It allows users to instruct machines in a structured, understandable way.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67890" y="2805537"/>
            <a:ext cx="4073291" cy="1126318"/>
          </a:xfrm>
          <a:prstGeom prst="roundRect">
            <a:avLst>
              <a:gd name="adj" fmla="val 2113"/>
            </a:avLst>
          </a:prstGeom>
          <a:solidFill>
            <a:srgbClr val="F3E3D8"/>
          </a:solidFill>
        </p:spPr>
      </p:sp>
      <p:sp>
        <p:nvSpPr>
          <p:cNvPr id="6" name="Text 3"/>
          <p:cNvSpPr/>
          <p:nvPr/>
        </p:nvSpPr>
        <p:spPr>
          <a:xfrm>
            <a:off x="348998" y="2938707"/>
            <a:ext cx="3911074" cy="10586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Without computer languages, we would have no way to tell a machine what to do — they are the foundation of all software.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1390243"/>
            <a:ext cx="4261281" cy="254161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3522" y="203114"/>
            <a:ext cx="8151763" cy="4360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Three Levels </a:t>
            </a:r>
            <a:r>
              <a:rPr lang="en-US" sz="2400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of </a:t>
            </a: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Computer Languages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42115" y="762994"/>
            <a:ext cx="8408922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32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Computer languages exist at different levels of abstraction — from raw binary the machine understands directly, to human-readable English-like syntax.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15544" y="1849964"/>
            <a:ext cx="657978" cy="441646"/>
          </a:xfrm>
          <a:prstGeom prst="roundRect">
            <a:avLst>
              <a:gd name="adj" fmla="val 2614"/>
            </a:avLst>
          </a:prstGeom>
          <a:solidFill>
            <a:srgbClr val="F9F7F7"/>
          </a:solidFill>
        </p:spPr>
      </p:sp>
      <p:sp>
        <p:nvSpPr>
          <p:cNvPr id="5" name="Text 3"/>
          <p:cNvSpPr/>
          <p:nvPr/>
        </p:nvSpPr>
        <p:spPr>
          <a:xfrm>
            <a:off x="846418" y="1941536"/>
            <a:ext cx="196230" cy="24526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76971" y="1763762"/>
            <a:ext cx="6514133" cy="2180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High-Level Language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76971" y="2064171"/>
            <a:ext cx="651413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English-like instructions. Easy for humans, but computers cannot understand it directly.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24422" y="2524646"/>
            <a:ext cx="6653733" cy="9525"/>
          </a:xfrm>
          <a:prstGeom prst="roundRect">
            <a:avLst>
              <a:gd name="adj" fmla="val 50000"/>
            </a:avLst>
          </a:prstGeom>
          <a:solidFill>
            <a:srgbClr val="D8D4D4"/>
          </a:solidFill>
        </p:spPr>
      </p:sp>
      <p:sp>
        <p:nvSpPr>
          <p:cNvPr id="9" name="Shape 7"/>
          <p:cNvSpPr/>
          <p:nvPr/>
        </p:nvSpPr>
        <p:spPr>
          <a:xfrm>
            <a:off x="496119" y="2692677"/>
            <a:ext cx="950941" cy="633785"/>
          </a:xfrm>
          <a:prstGeom prst="roundRect">
            <a:avLst>
              <a:gd name="adj" fmla="val 2047"/>
            </a:avLst>
          </a:prstGeom>
          <a:solidFill>
            <a:srgbClr val="F9F7F7"/>
          </a:solidFill>
        </p:spPr>
      </p:sp>
      <p:sp>
        <p:nvSpPr>
          <p:cNvPr id="10" name="Text 8"/>
          <p:cNvSpPr/>
          <p:nvPr/>
        </p:nvSpPr>
        <p:spPr>
          <a:xfrm>
            <a:off x="873474" y="2886934"/>
            <a:ext cx="196230" cy="24526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76971" y="2692677"/>
            <a:ext cx="5155481" cy="2180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Assembly-Level Language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76971" y="2990605"/>
            <a:ext cx="7567029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Uses mnemonics like </a:t>
            </a:r>
            <a:r>
              <a:rPr lang="en-US" sz="1400" b="1" dirty="0">
                <a:solidFill>
                  <a:srgbClr val="504C49"/>
                </a:solidFill>
                <a:latin typeface="Source Serif 4 Bold" panose="02040603050405020204" pitchFamily="34" charset="0"/>
                <a:ea typeface="Source Serif 4 Bold" panose="02040603050405020204" pitchFamily="34" charset="-122"/>
                <a:cs typeface="Source Serif 4 Bold" panose="02040603050405020204" pitchFamily="34" charset="-120"/>
              </a:rPr>
              <a:t>ADD</a:t>
            </a:r>
            <a:r>
              <a:rPr lang="en-US" sz="14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 and </a:t>
            </a:r>
            <a:r>
              <a:rPr lang="en-US" sz="1400" b="1" dirty="0">
                <a:solidFill>
                  <a:srgbClr val="504C49"/>
                </a:solidFill>
                <a:latin typeface="Source Serif 4 Bold" panose="02040603050405020204" pitchFamily="34" charset="0"/>
                <a:ea typeface="Source Serif 4 Bold" panose="02040603050405020204" pitchFamily="34" charset="-122"/>
                <a:cs typeface="Source Serif 4 Bold" panose="02040603050405020204" pitchFamily="34" charset="-120"/>
              </a:rPr>
              <a:t>SUB</a:t>
            </a:r>
            <a:r>
              <a:rPr lang="en-US" sz="14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. Machine-dependent but more readable than binary.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83074" y="3616747"/>
            <a:ext cx="5295081" cy="9525"/>
          </a:xfrm>
          <a:prstGeom prst="roundRect">
            <a:avLst>
              <a:gd name="adj" fmla="val 50000"/>
            </a:avLst>
          </a:prstGeom>
          <a:solidFill>
            <a:srgbClr val="D8D4D4"/>
          </a:solidFill>
        </p:spPr>
      </p:sp>
      <p:sp>
        <p:nvSpPr>
          <p:cNvPr id="14" name="Shape 12"/>
          <p:cNvSpPr/>
          <p:nvPr/>
        </p:nvSpPr>
        <p:spPr>
          <a:xfrm>
            <a:off x="496120" y="3695999"/>
            <a:ext cx="1080852" cy="511148"/>
          </a:xfrm>
          <a:prstGeom prst="roundRect">
            <a:avLst>
              <a:gd name="adj" fmla="val 2047"/>
            </a:avLst>
          </a:prstGeom>
          <a:solidFill>
            <a:srgbClr val="F9F7F7"/>
          </a:solidFill>
        </p:spPr>
      </p:sp>
      <p:sp>
        <p:nvSpPr>
          <p:cNvPr id="15" name="Text 13"/>
          <p:cNvSpPr/>
          <p:nvPr/>
        </p:nvSpPr>
        <p:spPr>
          <a:xfrm>
            <a:off x="938431" y="3839244"/>
            <a:ext cx="196230" cy="24526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55262" y="3730227"/>
            <a:ext cx="3796829" cy="2180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Machine-Level Language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55260" y="4030185"/>
            <a:ext cx="6092599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Written in </a:t>
            </a:r>
            <a:r>
              <a:rPr lang="en-US" sz="1400" b="1" dirty="0">
                <a:solidFill>
                  <a:srgbClr val="504C49"/>
                </a:solidFill>
                <a:latin typeface="Source Serif 4 Bold" panose="02040603050405020204" pitchFamily="34" charset="0"/>
                <a:ea typeface="Source Serif 4 Bold" panose="02040603050405020204" pitchFamily="34" charset="-122"/>
                <a:cs typeface="Source Serif 4 Bold" panose="02040603050405020204" pitchFamily="34" charset="-120"/>
              </a:rPr>
              <a:t>binary bits</a:t>
            </a:r>
            <a:r>
              <a:rPr lang="en-US" sz="14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 (0s and 1s). Directly executed by the CPU.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  <p:bldP spid="10" grpId="0"/>
      <p:bldP spid="11" grpId="0"/>
      <p:bldP spid="12" grpId="0"/>
      <p:bldP spid="15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49" y="1632096"/>
            <a:ext cx="4395477" cy="25019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 2"/>
          <p:cNvSpPr/>
          <p:nvPr/>
        </p:nvSpPr>
        <p:spPr>
          <a:xfrm>
            <a:off x="2592199" y="220122"/>
            <a:ext cx="4416721" cy="4429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Machine-Level Language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5113536" y="1472292"/>
            <a:ext cx="3701989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Instructions are written entirely in </a:t>
            </a:r>
            <a:r>
              <a:rPr lang="en-US" sz="1500" b="1" dirty="0">
                <a:solidFill>
                  <a:srgbClr val="504C49"/>
                </a:solidFill>
                <a:latin typeface="Source Serif 4 Bold" panose="02040603050405020204" pitchFamily="34" charset="0"/>
                <a:ea typeface="Source Serif 4 Bold" panose="02040603050405020204" pitchFamily="34" charset="-122"/>
                <a:cs typeface="Source Serif 4 Bold" panose="02040603050405020204" pitchFamily="34" charset="-120"/>
              </a:rPr>
              <a:t>binary digits</a:t>
            </a: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 — 0s and 1s. This is the only language the CPU directly </a:t>
            </a:r>
            <a:r>
              <a:rPr lang="en-US" sz="1500" dirty="0" smtClean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understands.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113530" y="2904884"/>
            <a:ext cx="3746377" cy="16138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Fastest execution — no translation needed</a:t>
            </a:r>
            <a:endParaRPr lang="en-US" sz="15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Extremely difficult for humans to read or write</a:t>
            </a:r>
            <a:endParaRPr lang="en-US" sz="15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Specific to each hardware architecture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9795" y="741478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Assembly &amp; High-Level Languages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248575" y="2053903"/>
            <a:ext cx="4252509" cy="20830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4653" y="2170321"/>
            <a:ext cx="360714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Assembly-Level</a:t>
            </a: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Language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26126" y="2521223"/>
            <a:ext cx="3932807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Uses </a:t>
            </a:r>
            <a:r>
              <a:rPr lang="en-US" sz="1500" b="1" dirty="0">
                <a:solidFill>
                  <a:srgbClr val="504C49"/>
                </a:solidFill>
                <a:latin typeface="Source Serif 4 Bold" panose="02040603050405020204" pitchFamily="34" charset="0"/>
                <a:ea typeface="Source Serif 4 Bold" panose="02040603050405020204" pitchFamily="34" charset="-122"/>
                <a:cs typeface="Source Serif 4 Bold" panose="02040603050405020204" pitchFamily="34" charset="-120"/>
              </a:rPr>
              <a:t>mnemonics</a:t>
            </a: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 — short symbolic codes — instead of binary. For example, </a:t>
            </a:r>
            <a:r>
              <a:rPr lang="en-US" sz="1500" b="1" dirty="0">
                <a:solidFill>
                  <a:srgbClr val="504C49"/>
                </a:solidFill>
                <a:latin typeface="Source Serif 4 Bold" panose="02040603050405020204" pitchFamily="34" charset="0"/>
                <a:ea typeface="Source Serif 4 Bold" panose="02040603050405020204" pitchFamily="34" charset="-122"/>
                <a:cs typeface="Source Serif 4 Bold" panose="02040603050405020204" pitchFamily="34" charset="-120"/>
              </a:rPr>
              <a:t>ADD</a:t>
            </a: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 for addition and </a:t>
            </a:r>
            <a:r>
              <a:rPr lang="en-US" sz="1500" b="1" dirty="0">
                <a:solidFill>
                  <a:srgbClr val="504C49"/>
                </a:solidFill>
                <a:latin typeface="Source Serif 4 Bold" panose="02040603050405020204" pitchFamily="34" charset="0"/>
                <a:ea typeface="Source Serif 4 Bold" panose="02040603050405020204" pitchFamily="34" charset="-122"/>
                <a:cs typeface="Source Serif 4 Bold" panose="02040603050405020204" pitchFamily="34" charset="-120"/>
              </a:rPr>
              <a:t>SUB</a:t>
            </a: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 for subtraction. Still machine-dependent, but far easier for humans to work with than raw binary.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642842" y="2053903"/>
            <a:ext cx="4296972" cy="20830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64437" y="2152565"/>
            <a:ext cx="36072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High-Level Language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785064" y="2432443"/>
            <a:ext cx="4074851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Written using </a:t>
            </a:r>
            <a:r>
              <a:rPr lang="en-US" sz="1500" b="1" dirty="0">
                <a:solidFill>
                  <a:srgbClr val="504C49"/>
                </a:solidFill>
                <a:latin typeface="Source Serif 4 Bold" panose="02040603050405020204" pitchFamily="34" charset="0"/>
                <a:ea typeface="Source Serif 4 Bold" panose="02040603050405020204" pitchFamily="34" charset="-122"/>
                <a:cs typeface="Source Serif 4 Bold" panose="02040603050405020204" pitchFamily="34" charset="-120"/>
              </a:rPr>
              <a:t>English-like words and mathematical notation</a:t>
            </a: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. Examples include Python, Java, and C++. Computers cannot execute these directly — a translator is required to convert them into machine code.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88903" y="131490"/>
            <a:ext cx="3543222" cy="3737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Language Translators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487241" y="610052"/>
            <a:ext cx="7946545" cy="35272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Translators convert human-readable code into machine-executable instructions. </a:t>
            </a:r>
            <a:endParaRPr lang="en-US" sz="1400" dirty="0" smtClean="0">
              <a:solidFill>
                <a:srgbClr val="504C49"/>
              </a:solidFill>
              <a:latin typeface="Source Serif 4" panose="02040603050405020204" pitchFamily="34" charset="0"/>
              <a:ea typeface="Source Serif 4" panose="02040603050405020204" pitchFamily="34" charset="-122"/>
              <a:cs typeface="Source Serif 4" panose="02040603050405020204" pitchFamily="34" charset="-120"/>
            </a:endParaRPr>
          </a:p>
          <a:p>
            <a:pPr marL="0" indent="0" algn="l">
              <a:lnSpc>
                <a:spcPct val="123000"/>
              </a:lnSpc>
              <a:buNone/>
            </a:pPr>
            <a:r>
              <a:rPr lang="en-US" sz="1400" dirty="0" smtClean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There </a:t>
            </a:r>
            <a:r>
              <a:rPr lang="en-US" sz="14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are three main types: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496119" y="1409950"/>
            <a:ext cx="4722763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 smtClean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Assembler: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487241" y="1772712"/>
            <a:ext cx="8150732" cy="6508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Converts </a:t>
            </a:r>
            <a:r>
              <a:rPr lang="en-US" sz="1500" b="1" dirty="0">
                <a:solidFill>
                  <a:srgbClr val="504C49"/>
                </a:solidFill>
                <a:latin typeface="Source Serif 4 Bold" panose="02040603050405020204" pitchFamily="34" charset="0"/>
                <a:ea typeface="Source Serif 4 Bold" panose="02040603050405020204" pitchFamily="34" charset="-122"/>
                <a:cs typeface="Source Serif 4 Bold" panose="02040603050405020204" pitchFamily="34" charset="-120"/>
              </a:rPr>
              <a:t>assembly-level</a:t>
            </a: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 programs into machine-level language. Works as system software tied to specific hardware.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496119" y="2701413"/>
            <a:ext cx="4722763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Compiler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496119" y="2993155"/>
            <a:ext cx="8417062" cy="35272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Translates an </a:t>
            </a:r>
            <a:r>
              <a:rPr lang="en-US" sz="1500" b="1" dirty="0">
                <a:solidFill>
                  <a:srgbClr val="504C49"/>
                </a:solidFill>
                <a:latin typeface="Source Serif 4 Bold" panose="02040603050405020204" pitchFamily="34" charset="0"/>
                <a:ea typeface="Source Serif 4 Bold" panose="02040603050405020204" pitchFamily="34" charset="-122"/>
                <a:cs typeface="Source Serif 4 Bold" panose="02040603050405020204" pitchFamily="34" charset="-120"/>
              </a:rPr>
              <a:t>entire high-level program</a:t>
            </a: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 into machine code at once. Produces a standalone executable file.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487241" y="3877485"/>
            <a:ext cx="4722763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Interpreter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469485" y="4195852"/>
            <a:ext cx="8319407" cy="35272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Converts high-level code </a:t>
            </a:r>
            <a:r>
              <a:rPr lang="en-US" sz="1500" b="1" dirty="0">
                <a:solidFill>
                  <a:srgbClr val="504C49"/>
                </a:solidFill>
                <a:latin typeface="Source Serif 4 Bold" panose="02040603050405020204" pitchFamily="34" charset="0"/>
                <a:ea typeface="Source Serif 4 Bold" panose="02040603050405020204" pitchFamily="34" charset="-122"/>
                <a:cs typeface="Source Serif 4 Bold" panose="02040603050405020204" pitchFamily="34" charset="-120"/>
              </a:rPr>
              <a:t>line by line</a:t>
            </a: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, executing each statement immediately. Slower but easier to debug.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9" grpId="0"/>
      <p:bldP spid="10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11350" y="107379"/>
            <a:ext cx="4067003" cy="58507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Is an Interface?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220910" y="882248"/>
            <a:ext cx="3330157" cy="168946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An </a:t>
            </a:r>
            <a:r>
              <a:rPr lang="en-US" sz="1500" b="1" dirty="0">
                <a:solidFill>
                  <a:srgbClr val="504C49"/>
                </a:solidFill>
                <a:latin typeface="Source Serif 4 Bold" panose="02040603050405020204" pitchFamily="34" charset="0"/>
                <a:ea typeface="Source Serif 4 Bold" panose="02040603050405020204" pitchFamily="34" charset="-122"/>
                <a:cs typeface="Source Serif 4 Bold" panose="02040603050405020204" pitchFamily="34" charset="-120"/>
              </a:rPr>
              <a:t>interface</a:t>
            </a: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 is a mediator between two entities — it defines how they communicate and interact.</a:t>
            </a:r>
            <a:endParaRPr lang="en-US" sz="1500" dirty="0"/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The most common example is the </a:t>
            </a:r>
            <a:r>
              <a:rPr lang="en-US" sz="1500" b="1" dirty="0">
                <a:solidFill>
                  <a:srgbClr val="504C49"/>
                </a:solidFill>
                <a:latin typeface="Source Serif 4 Bold" panose="02040603050405020204" pitchFamily="34" charset="0"/>
                <a:ea typeface="Source Serif 4 Bold" panose="02040603050405020204" pitchFamily="34" charset="-122"/>
                <a:cs typeface="Source Serif 4 Bold" panose="02040603050405020204" pitchFamily="34" charset="-120"/>
              </a:rPr>
              <a:t>Operating System (OS)</a:t>
            </a: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, which acts as the interface between the </a:t>
            </a:r>
            <a:r>
              <a:rPr lang="en-US" sz="1500" b="1" dirty="0">
                <a:solidFill>
                  <a:srgbClr val="504C49"/>
                </a:solidFill>
                <a:latin typeface="Source Serif 4 Bold" panose="02040603050405020204" pitchFamily="34" charset="0"/>
                <a:ea typeface="Source Serif 4 Bold" panose="02040603050405020204" pitchFamily="34" charset="-122"/>
                <a:cs typeface="Source Serif 4 Bold" panose="02040603050405020204" pitchFamily="34" charset="-120"/>
              </a:rPr>
              <a:t>user</a:t>
            </a: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 and the </a:t>
            </a:r>
            <a:r>
              <a:rPr lang="en-US" sz="1500" b="1" dirty="0">
                <a:solidFill>
                  <a:srgbClr val="504C49"/>
                </a:solidFill>
                <a:latin typeface="Source Serif 4 Bold" panose="02040603050405020204" pitchFamily="34" charset="0"/>
                <a:ea typeface="Source Serif 4 Bold" panose="02040603050405020204" pitchFamily="34" charset="-122"/>
                <a:cs typeface="Source Serif 4 Bold" panose="02040603050405020204" pitchFamily="34" charset="-120"/>
              </a:rPr>
              <a:t>hardware</a:t>
            </a: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0911" y="3242220"/>
            <a:ext cx="3241380" cy="1436311"/>
          </a:xfrm>
          <a:prstGeom prst="roundRect">
            <a:avLst>
              <a:gd name="adj" fmla="val 1496"/>
            </a:avLst>
          </a:prstGeom>
          <a:solidFill>
            <a:srgbClr val="B6D6FC"/>
          </a:solidFill>
        </p:spPr>
      </p:sp>
      <p:sp>
        <p:nvSpPr>
          <p:cNvPr id="6" name="Text 3"/>
          <p:cNvSpPr/>
          <p:nvPr/>
        </p:nvSpPr>
        <p:spPr>
          <a:xfrm>
            <a:off x="337351" y="3396904"/>
            <a:ext cx="3045041" cy="11269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500" dirty="0">
                <a:latin typeface="Arial Narrow" pitchFamily="34" charset="0"/>
              </a:rPr>
              <a:t>Interfaces hide complexity — users interact with simple controls while the system handles the technical details underneath.</a:t>
            </a: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916" y="1031881"/>
            <a:ext cx="5183237" cy="32394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84039" y="135350"/>
            <a:ext cx="479497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Types of Computer Applications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24614" y="639192"/>
            <a:ext cx="6233334" cy="1988598"/>
          </a:xfrm>
          <a:custGeom>
            <a:avLst/>
            <a:gdLst/>
            <a:ahLst/>
            <a:cxnLst/>
            <a:rect l="l" t="t" r="r" b="b"/>
            <a:pathLst>
              <a:path w="4075881" h="559519">
                <a:moveTo>
                  <a:pt x="8860" y="0"/>
                </a:moveTo>
                <a:lnTo>
                  <a:pt x="4075881" y="0"/>
                </a:lnTo>
                <a:lnTo>
                  <a:pt x="4075881" y="559519"/>
                </a:lnTo>
                <a:lnTo>
                  <a:pt x="8860" y="559519"/>
                </a:lnTo>
                <a:arcTo wR="8860" hR="8860" stAng="5400000" swAng="5400000"/>
                <a:lnTo>
                  <a:pt x="0" y="8860"/>
                </a:lnTo>
                <a:arcTo wR="8860" hR="8860" stAng="10800000" swAng="5400000"/>
                <a:close/>
              </a:path>
            </a:pathLst>
          </a:custGeom>
          <a:solidFill>
            <a:srgbClr val="F9F7F7"/>
          </a:solidFill>
        </p:spPr>
      </p:sp>
      <p:sp>
        <p:nvSpPr>
          <p:cNvPr id="5" name="Text 3"/>
          <p:cNvSpPr/>
          <p:nvPr/>
        </p:nvSpPr>
        <p:spPr>
          <a:xfrm>
            <a:off x="3151572" y="775191"/>
            <a:ext cx="3934197" cy="1202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🖥️</a:t>
            </a: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Standalone Applications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37678" y="1119595"/>
            <a:ext cx="5817805" cy="27637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50000"/>
              </a:lnSpc>
              <a:spcAft>
                <a:spcPts val="150"/>
              </a:spcAft>
              <a:buNone/>
            </a:pP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Must be </a:t>
            </a:r>
            <a:r>
              <a:rPr lang="en-US" sz="1500" b="1" dirty="0">
                <a:solidFill>
                  <a:srgbClr val="504C49"/>
                </a:solidFill>
                <a:latin typeface="Source Serif 4 Bold" panose="02040603050405020204" pitchFamily="34" charset="0"/>
                <a:ea typeface="Source Serif 4 Bold" panose="02040603050405020204" pitchFamily="34" charset="-122"/>
                <a:cs typeface="Source Serif 4 Bold" panose="02040603050405020204" pitchFamily="34" charset="-120"/>
              </a:rPr>
              <a:t>installed</a:t>
            </a: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 on your system to work. Compatible with a single OS — Windows uses </a:t>
            </a:r>
            <a:r>
              <a:rPr lang="en-US" sz="1500" b="1" dirty="0">
                <a:solidFill>
                  <a:srgbClr val="504C49"/>
                </a:solidFill>
                <a:latin typeface="Source Serif 4 Bold" panose="02040603050405020204" pitchFamily="34" charset="0"/>
                <a:ea typeface="Source Serif 4 Bold" panose="02040603050405020204" pitchFamily="34" charset="-122"/>
                <a:cs typeface="Source Serif 4 Bold" panose="02040603050405020204" pitchFamily="34" charset="-120"/>
              </a:rPr>
              <a:t>.exe</a:t>
            </a: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, Mac uses </a:t>
            </a:r>
            <a:r>
              <a:rPr lang="en-US" sz="1500" b="1" dirty="0">
                <a:solidFill>
                  <a:srgbClr val="504C49"/>
                </a:solidFill>
                <a:latin typeface="Source Serif 4 Bold" panose="02040603050405020204" pitchFamily="34" charset="0"/>
                <a:ea typeface="Source Serif 4 Bold" panose="02040603050405020204" pitchFamily="34" charset="-122"/>
                <a:cs typeface="Source Serif 4 Bold" panose="02040603050405020204" pitchFamily="34" charset="-120"/>
              </a:rPr>
              <a:t>.dmg</a:t>
            </a: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, Linux uses </a:t>
            </a:r>
            <a:r>
              <a:rPr lang="en-US" sz="1500" b="1" dirty="0">
                <a:solidFill>
                  <a:srgbClr val="504C49"/>
                </a:solidFill>
                <a:latin typeface="Source Serif 4 Bold" panose="02040603050405020204" pitchFamily="34" charset="0"/>
                <a:ea typeface="Source Serif 4 Bold" panose="02040603050405020204" pitchFamily="34" charset="-122"/>
                <a:cs typeface="Source Serif 4 Bold" panose="02040603050405020204" pitchFamily="34" charset="-120"/>
              </a:rPr>
              <a:t>.rpm</a:t>
            </a: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.</a:t>
            </a:r>
            <a:endParaRPr lang="en-US" sz="15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Examples: MS Office, Google Chrome, Adobe Photoshop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24614" y="2814221"/>
            <a:ext cx="6233333" cy="1484435"/>
          </a:xfrm>
          <a:custGeom>
            <a:avLst/>
            <a:gdLst/>
            <a:ahLst/>
            <a:cxnLst/>
            <a:rect l="l" t="t" r="r" b="b"/>
            <a:pathLst>
              <a:path w="4075881" h="559519">
                <a:moveTo>
                  <a:pt x="0" y="0"/>
                </a:moveTo>
                <a:lnTo>
                  <a:pt x="4067021" y="0"/>
                </a:lnTo>
                <a:arcTo wR="8860" hR="8860" stAng="16200000" swAng="5400000"/>
                <a:lnTo>
                  <a:pt x="4075881" y="550659"/>
                </a:lnTo>
                <a:arcTo wR="8860" hR="8860" stAng="0" swAng="5400000"/>
                <a:lnTo>
                  <a:pt x="0" y="559519"/>
                </a:lnTo>
                <a:lnTo>
                  <a:pt x="0" y="0"/>
                </a:lnTo>
                <a:close/>
              </a:path>
            </a:pathLst>
          </a:custGeom>
          <a:solidFill>
            <a:srgbClr val="F9F7F7"/>
          </a:solidFill>
        </p:spPr>
      </p:sp>
      <p:sp>
        <p:nvSpPr>
          <p:cNvPr id="9" name="Text 7"/>
          <p:cNvSpPr/>
          <p:nvPr/>
        </p:nvSpPr>
        <p:spPr>
          <a:xfrm>
            <a:off x="3522827" y="2905252"/>
            <a:ext cx="3934197" cy="1202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Web Applications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37678" y="3355759"/>
            <a:ext cx="5817805" cy="8345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Require </a:t>
            </a:r>
            <a:r>
              <a:rPr lang="en-US" sz="1500" b="1" dirty="0">
                <a:solidFill>
                  <a:srgbClr val="504C49"/>
                </a:solidFill>
                <a:latin typeface="Source Serif 4 Bold" panose="02040603050405020204" pitchFamily="34" charset="0"/>
                <a:ea typeface="Source Serif 4 Bold" panose="02040603050405020204" pitchFamily="34" charset="-122"/>
                <a:cs typeface="Source Serif 4 Bold" panose="02040603050405020204" pitchFamily="34" charset="-120"/>
              </a:rPr>
              <a:t>no installation</a:t>
            </a: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. Accessed through a browser over the internet. Work across any operating system.</a:t>
            </a:r>
            <a:endParaRPr lang="en-US" sz="1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i="1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Examples: Gmail, Facebook, Google Docs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65380" y="4298656"/>
            <a:ext cx="1832290" cy="2566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Low Portability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77043" y="4693369"/>
            <a:ext cx="8608963" cy="2919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Standalone apps require installation and are tied to one OS, while web apps run </a:t>
            </a:r>
            <a:r>
              <a:rPr lang="en-US" sz="1300" dirty="0" smtClean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In </a:t>
            </a:r>
            <a:r>
              <a:rPr lang="en-US" sz="13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any browser without setup.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9" grpId="0"/>
      <p:bldP spid="10" grpId="0"/>
      <p:bldP spid="13" grpId="0"/>
      <p:bldP spid="20" grpId="0"/>
    </p:bldLst>
  </p:timing>
</p:sld>
</file>

<file path=ppt/theme/theme1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85</TotalTime>
  <Words>618</Words>
  <Application>Microsoft Office PowerPoint</Application>
  <PresentationFormat>On-screen Show (16:9)</PresentationFormat>
  <Paragraphs>65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Platypi Medium</vt:lpstr>
      <vt:lpstr>Calibri</vt:lpstr>
      <vt:lpstr>Trebuchet MS</vt:lpstr>
      <vt:lpstr>Georgia</vt:lpstr>
      <vt:lpstr>Twemoji Mozilla</vt:lpstr>
      <vt:lpstr>Arial Narrow</vt:lpstr>
      <vt:lpstr>Source Serif 4</vt:lpstr>
      <vt:lpstr>Source Serif 4 Bold</vt:lpstr>
      <vt:lpstr>Slipstream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12</cp:revision>
  <dcterms:created xsi:type="dcterms:W3CDTF">2026-08-10T16:21:00Z</dcterms:created>
  <dcterms:modified xsi:type="dcterms:W3CDTF">2026-08-11T02:31:55Z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B9F9B397314040BB86D24B28BFB65E14_12</vt:lpwstr>
  </property>
  <property fmtid="{D5CDD505-2E9C-101B-9397-08002B2CF9AE}" pid="3" name="KSOProductBuildVer">
    <vt:lpwstr>1033-12.1.0.28032</vt:lpwstr>
  </property>
</Properties>
</file>